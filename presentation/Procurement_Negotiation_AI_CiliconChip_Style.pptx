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4058"/>
                </a:solidFill>
                <a:latin typeface="Aptos"/>
              </a:rPr>
              <a:t>PROCUREMENT NEGOTIATION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3A97C4"/>
                </a:solidFill>
                <a:latin typeface="Aptos"/>
              </a:rPr>
              <a:t>Applied Game-Theory Modelling for Strategic Negotiation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707A"/>
                </a:solidFill>
                <a:latin typeface="Aptos"/>
              </a:rPr>
              <a:t>Sample Capstone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3200400" cy="10515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SUPPLIER ANALYSIS
&amp; ALTERNATIVES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3886200"/>
            <a:ext cx="3200400" cy="10515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BATNA • ZOPA
&amp; BARGAINING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3886200"/>
            <a:ext cx="3200400" cy="10515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GAME THEORY
&amp;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3035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07A"/>
                </a:solidFill>
                <a:latin typeface="Aptos"/>
              </a:rPr>
              <a:t>Synthetic data used for demonstration — not actual customer findings.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</a:t>
            </a:r>
          </a:p>
        </p:txBody>
      </p:sp>
      <p:pic>
        <p:nvPicPr>
          <p:cNvPr id="15" name="Image 0" descr="/home/claude/pptx_work/Final_Logo.png">
            <a:extLst>
              <a:ext uri="{FF2B5EF4-FFF2-40B4-BE49-F238E27FC236}">
                <a16:creationId xmlns:a16="http://schemas.microsoft.com/office/drawing/2014/main" id="{A69F7663-5E01-AE71-749E-0F3BAFF4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-9595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AF6B7-E4A5-14B0-3229-F332D4D6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0"/>
            <a:ext cx="121049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3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1. 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6888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PROCUREMENT
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82496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246888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SUPPLIER
COMPARISON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55080" y="1682496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03720" y="1325880"/>
            <a:ext cx="246888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NEGOTIATION
BOUNDARIES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64040" y="1682496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12680" y="1325880"/>
            <a:ext cx="150876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BETTER
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D343E"/>
                </a:solidFill>
                <a:latin typeface="Aptos"/>
              </a:rPr>
              <a:t>• Procurement teams need a clear view of supplier options before entering a negotiation.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D343E"/>
                </a:solidFill>
                <a:latin typeface="Aptos"/>
              </a:rPr>
              <a:t>• The buyer needs a target price and a walk-away point.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D343E"/>
                </a:solidFill>
                <a:latin typeface="Aptos"/>
              </a:rPr>
              <a:t>• If the current negotiation fails, the buyer needs to know the best realistic alternative.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D343E"/>
                </a:solidFill>
                <a:latin typeface="Aptos"/>
              </a:rPr>
              <a:t>• Supplier claims may be useful, but they need to be assessed for evidence and credibility.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2</a:t>
            </a:r>
          </a:p>
        </p:txBody>
      </p:sp>
      <p:pic>
        <p:nvPicPr>
          <p:cNvPr id="16" name="Image 0" descr="/home/claude/pptx_work/Final_Logo.png">
            <a:extLst>
              <a:ext uri="{FF2B5EF4-FFF2-40B4-BE49-F238E27FC236}">
                <a16:creationId xmlns:a16="http://schemas.microsoft.com/office/drawing/2014/main" id="{CA4DB6A0-6032-3852-F1F9-C955A9CA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F4058"/>
                </a:solidFill>
                <a:latin typeface="Aptos"/>
              </a:rPr>
              <a:t>2. Project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645920" cy="411480"/>
          </a:xfrm>
          <a:prstGeom prst="roundRect">
            <a:avLst/>
          </a:prstGeom>
          <a:solidFill>
            <a:srgbClr val="3A9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1645920" cy="1097280"/>
          </a:xfrm>
          <a:prstGeom prst="roundRect">
            <a:avLst/>
          </a:prstGeom>
          <a:solidFill>
            <a:srgbClr val="EDF6F8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Analyze
Suppliers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13432" y="2331720"/>
            <a:ext cx="41148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360" y="1371600"/>
            <a:ext cx="1645920" cy="411480"/>
          </a:xfrm>
          <a:prstGeom prst="roundRect">
            <a:avLst/>
          </a:prstGeom>
          <a:solidFill>
            <a:srgbClr val="3A9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01952"/>
            <a:ext cx="1645920" cy="1097280"/>
          </a:xfrm>
          <a:prstGeom prst="roundRect">
            <a:avLst/>
          </a:prstGeom>
          <a:solidFill>
            <a:srgbClr val="EDF6F8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Find
Outside Options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99431" y="2331720"/>
            <a:ext cx="41148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66360" y="1371600"/>
            <a:ext cx="1645920" cy="411480"/>
          </a:xfrm>
          <a:prstGeom prst="roundRect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901952"/>
            <a:ext cx="1645920" cy="1097280"/>
          </a:xfrm>
          <a:prstGeom prst="roundRect">
            <a:avLst/>
          </a:prstGeom>
          <a:solidFill>
            <a:srgbClr val="EDF6F8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Calculate
BATNA &amp; ZOPA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85432" y="2331720"/>
            <a:ext cx="41148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52360" y="1371600"/>
            <a:ext cx="1645920" cy="411480"/>
          </a:xfrm>
          <a:prstGeom prst="roundRect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01952"/>
            <a:ext cx="1645920" cy="1097280"/>
          </a:xfrm>
          <a:prstGeom prst="roundRect">
            <a:avLst/>
          </a:prstGeom>
          <a:solidFill>
            <a:srgbClr val="EDF6F8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Apply
Game Theory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71432" y="2331720"/>
            <a:ext cx="41148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371600"/>
            <a:ext cx="1645920" cy="411480"/>
          </a:xfrm>
          <a:prstGeom prst="roundRect">
            <a:avLst/>
          </a:prstGeom>
          <a:solidFill>
            <a:srgbClr val="E5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901952"/>
            <a:ext cx="1645920" cy="1097280"/>
          </a:xfrm>
          <a:prstGeom prst="roundRect">
            <a:avLst/>
          </a:prstGeom>
          <a:solidFill>
            <a:srgbClr val="EDF6F8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Generate
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886200"/>
            <a:ext cx="8321040" cy="11430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2F4058"/>
                </a:solidFill>
                <a:latin typeface="Aptos"/>
              </a:rPr>
              <a:t>FINAL OUTPUT  →  NEGOTIATION BRIEF
Opening • Target • Walk-away • Risks • Recommended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3</a:t>
            </a:r>
          </a:p>
        </p:txBody>
      </p:sp>
      <p:pic>
        <p:nvPicPr>
          <p:cNvPr id="23" name="Image 0" descr="/home/claude/pptx_work/Final_Logo.png">
            <a:extLst>
              <a:ext uri="{FF2B5EF4-FFF2-40B4-BE49-F238E27FC236}">
                <a16:creationId xmlns:a16="http://schemas.microsoft.com/office/drawing/2014/main" id="{A66A9884-BEB9-B5EC-A5A7-0312DA742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3. Strategic Procurement Negotiation Preparation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43000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PROCUREMENT DATA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61888" y="1682495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0520" y="1856232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SUPPLIER ANALYSIS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61888" y="2395728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2569464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2F4058"/>
                </a:solidFill>
                <a:latin typeface="Aptos"/>
              </a:rPr>
              <a:t>OUTSIDE OPTIONS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61888" y="3108960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0520" y="3282696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BATNA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61888" y="3822192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3995928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RESERVATION VALUE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61888" y="4535424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60520" y="4709160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ZOPA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61888" y="5248656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60520" y="5422392"/>
            <a:ext cx="388620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NASH BARGAINING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743200"/>
            <a:ext cx="256032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F4058"/>
                </a:solidFill>
                <a:latin typeface="Aptos"/>
              </a:rPr>
              <a:t>SIGNALLING
&amp; CREDIBILITY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256032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F4058"/>
                </a:solidFill>
                <a:latin typeface="Aptos"/>
              </a:rPr>
              <a:t>INFORMATION
ASYMMETRY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743200"/>
            <a:ext cx="256032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F4058"/>
                </a:solidFill>
                <a:latin typeface="Aptos"/>
              </a:rPr>
              <a:t>TIMING
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657600"/>
            <a:ext cx="256032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F4058"/>
                </a:solidFill>
                <a:latin typeface="Aptos"/>
              </a:rPr>
              <a:t>SHAPLEY
ANALYSIS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401568" y="3017520"/>
            <a:ext cx="59436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3401568" y="3931920"/>
            <a:ext cx="59436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9077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6979A"/>
                </a:solidFill>
                <a:latin typeface="Aptos"/>
              </a:rPr>
              <a:t>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2219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6979A"/>
                </a:solidFill>
                <a:latin typeface="Aptos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7620" y="5431536"/>
            <a:ext cx="4617720" cy="566928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2F4058"/>
                </a:solidFill>
                <a:latin typeface="Aptos"/>
              </a:rPr>
              <a:t>FINAL NEGOTIATION DECISION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61888" y="5166360"/>
            <a:ext cx="310896" cy="228600"/>
          </a:xfrm>
          <a:prstGeom prst="down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4</a:t>
            </a:r>
          </a:p>
        </p:txBody>
      </p:sp>
      <p:pic>
        <p:nvPicPr>
          <p:cNvPr id="33" name="Image 0" descr="/home/claude/pptx_work/Final_Logo.png">
            <a:extLst>
              <a:ext uri="{FF2B5EF4-FFF2-40B4-BE49-F238E27FC236}">
                <a16:creationId xmlns:a16="http://schemas.microsoft.com/office/drawing/2014/main" id="{B2C38E51-0C17-FE0A-E48F-E00D4AAF7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808" y="16008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4. Synthetic Procurement Dataset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27077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represents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supplier_data.csv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4 suppliers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 master information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purchase_history.csv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6 records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Historical purchases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quotation_data.csv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4 quotations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Current RFQ quotations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negotiation_history.csv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4 records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Previous negotiation rounds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market_cost_data.csv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5 records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Market / commodity cost information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negotiation_case.csv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1 case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Current negotiation being analyzed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supplier_signals.csv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4 signals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 claims / evidence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760720"/>
            <a:ext cx="2377440" cy="411480"/>
          </a:xfrm>
          <a:prstGeom prst="roundRect">
            <a:avLst/>
          </a:prstGeom>
          <a:solidFill>
            <a:srgbClr val="3A9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 SUPPLIERS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5760720"/>
            <a:ext cx="2377440" cy="411480"/>
          </a:xfrm>
          <a:prstGeom prst="roundRect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 NEGOTIATION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5760720"/>
            <a:ext cx="2377440" cy="411480"/>
          </a:xfrm>
          <a:prstGeom prst="roundRect">
            <a:avLst/>
          </a:prstGeom>
          <a:solidFill>
            <a:srgbClr val="4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 DATA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5760720"/>
            <a:ext cx="2377440" cy="411480"/>
          </a:xfrm>
          <a:prstGeom prst="roundRect">
            <a:avLst/>
          </a:prstGeom>
          <a:solidFill>
            <a:srgbClr val="E5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SYNTHETIC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5</a:t>
            </a:r>
          </a:p>
        </p:txBody>
      </p:sp>
      <p:pic>
        <p:nvPicPr>
          <p:cNvPr id="13" name="Image 0" descr="/home/claude/pptx_work/Final_Logo.png">
            <a:extLst>
              <a:ext uri="{FF2B5EF4-FFF2-40B4-BE49-F238E27FC236}">
                <a16:creationId xmlns:a16="http://schemas.microsoft.com/office/drawing/2014/main" id="{BC87D69F-3680-AF8B-2FBE-81BADE98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5. From Data to Negotiation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Supplier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92808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Purchase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51176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Quotation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9544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Negotiation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67912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Market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26279"/>
            <a:ext cx="2331720" cy="4846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Supplier Signals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2880360"/>
            <a:ext cx="59436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94760" y="2240280"/>
            <a:ext cx="2148840" cy="77724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SUPPLIER
ANALYSIS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2514600"/>
            <a:ext cx="50292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20840" y="1325880"/>
            <a:ext cx="2148840" cy="658368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BATNA / ZOPA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240280"/>
            <a:ext cx="2148840" cy="658368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GAME THEORY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154680"/>
            <a:ext cx="2148840" cy="658368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RISK / SIGNALS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06840" y="2514600"/>
            <a:ext cx="50292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0" y="2057400"/>
            <a:ext cx="1965960" cy="9144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NEGOTIATION
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707A"/>
                </a:solidFill>
                <a:latin typeface="Aptos"/>
              </a:rPr>
              <a:t>The project converts raw procurement records into a structured negotiation recommendation.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6</a:t>
            </a:r>
          </a:p>
        </p:txBody>
      </p:sp>
      <p:pic>
        <p:nvPicPr>
          <p:cNvPr id="23" name="Image 0" descr="/home/claude/pptx_work/Final_Logo.png">
            <a:extLst>
              <a:ext uri="{FF2B5EF4-FFF2-40B4-BE49-F238E27FC236}">
                <a16:creationId xmlns:a16="http://schemas.microsoft.com/office/drawing/2014/main" id="{837B2E05-DFE6-D28E-064D-0C3B07B96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6. Supplier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101851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Supplier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Reliability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Delivery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dirty="0"/>
                        <a:t>S001 –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15,000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Current supplier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S002 – B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₹108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8,000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88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25 days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Capacity insufficient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S003 –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12,000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20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Feasible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S004 – D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dirty="0"/>
                        <a:t>₹115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20,000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35 days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dirty="0"/>
                        <a:t>Delivery too long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617720"/>
            <a:ext cx="283464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F4058"/>
                </a:solidFill>
                <a:latin typeface="Aptos"/>
              </a:rPr>
              <a:t>CURRENT
S001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617720"/>
            <a:ext cx="283464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F4058"/>
                </a:solidFill>
                <a:latin typeface="Aptos"/>
              </a:rPr>
              <a:t>BEST FEASIBLE
S003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617720"/>
            <a:ext cx="283464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F4058"/>
                </a:solidFill>
                <a:latin typeface="Aptos"/>
              </a:rPr>
              <a:t>BATNA CANDIDATE
S003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7</a:t>
            </a:r>
          </a:p>
        </p:txBody>
      </p:sp>
      <p:pic>
        <p:nvPicPr>
          <p:cNvPr id="12" name="Image 0" descr="/home/claude/pptx_work/Final_Logo.png">
            <a:extLst>
              <a:ext uri="{FF2B5EF4-FFF2-40B4-BE49-F238E27FC236}">
                <a16:creationId xmlns:a16="http://schemas.microsoft.com/office/drawing/2014/main" id="{F3ECCB91-02DC-0C19-BEFF-C17B98A3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808" y="50304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7. BATNA, Reservation Value &amp; ZOPA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4058"/>
                </a:solidFill>
                <a:latin typeface="Aptos"/>
              </a:rPr>
              <a:t>BATNA
S003 – Supplier C
₹11.30 lakh effective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337560" cy="15087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4058"/>
                </a:solidFill>
                <a:latin typeface="Aptos"/>
              </a:rPr>
              <a:t>RESERVATION VALUE
₹11.30 lakh total
₹113 /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25880"/>
            <a:ext cx="3337560" cy="15087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4058"/>
                </a:solidFill>
                <a:latin typeface="Aptos"/>
              </a:rPr>
              <a:t>ZOPA
₹111 – ₹113 / unit
Supplier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07A"/>
                </a:solidFill>
                <a:latin typeface="Aptos"/>
              </a:rPr>
              <a:t>Supplier quote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337560"/>
            <a:ext cx="1828800" cy="5486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F4058"/>
                </a:solidFill>
                <a:latin typeface="Aptos"/>
              </a:rPr>
              <a:t>₹111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337560"/>
            <a:ext cx="4023360" cy="54864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4058"/>
                </a:solidFill>
                <a:latin typeface="Aptos"/>
              </a:rPr>
              <a:t>NEGOTIATION ZONE  ₹111 → ₹113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37560"/>
            <a:ext cx="1828800" cy="5486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F4058"/>
                </a:solidFill>
                <a:latin typeface="Aptos"/>
              </a:rPr>
              <a:t>₹113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3429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07A"/>
                </a:solidFill>
                <a:latin typeface="Aptos"/>
              </a:rPr>
              <a:t>Buyer limit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617720"/>
            <a:ext cx="85039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Simple meaning: if the negotiation stays inside ₹111–₹113 per unit, a deal is feasible under this prototype.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8</a:t>
            </a:r>
          </a:p>
        </p:txBody>
      </p:sp>
      <p:pic>
        <p:nvPicPr>
          <p:cNvPr id="17" name="Image 0" descr="/home/claude/pptx_work/Final_Logo.png">
            <a:extLst>
              <a:ext uri="{FF2B5EF4-FFF2-40B4-BE49-F238E27FC236}">
                <a16:creationId xmlns:a16="http://schemas.microsoft.com/office/drawing/2014/main" id="{09E40E34-5701-D9D9-89DD-EC9452F68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808" y="25152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8. Supplier Signals → Credibility → Verification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Supplier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Signal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Alternative customer @ ₹125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0.9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Strong evidence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S003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Alternative customer @ ₹118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0.2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Weak / unverified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Capacity constraint = 0.95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0.8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Strong evidence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S003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Raw-material increase = 8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0.7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Strong evidence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434840"/>
            <a:ext cx="320040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SIGNALLING
What is the supplier claiming?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434840"/>
            <a:ext cx="320040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CREDIBILITY
How strong is the evidence?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4434840"/>
            <a:ext cx="320040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VERIFICATION
Can we rely on the claim?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07A"/>
                </a:solidFill>
                <a:latin typeface="Aptos"/>
              </a:rPr>
              <a:t>These are prototype evidence-strength indicators, not calibrated truth probabilities.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9</a:t>
            </a:r>
          </a:p>
        </p:txBody>
      </p:sp>
      <p:pic>
        <p:nvPicPr>
          <p:cNvPr id="13" name="Image 0" descr="/home/claude/pptx_work/Final_Logo.png">
            <a:extLst>
              <a:ext uri="{FF2B5EF4-FFF2-40B4-BE49-F238E27FC236}">
                <a16:creationId xmlns:a16="http://schemas.microsoft.com/office/drawing/2014/main" id="{7EFFAF0E-F3C4-4A0A-C599-6C994C33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4584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9. Applied Game-Theory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109728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SIGNALLING
Supplier claims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8" y="2240280"/>
            <a:ext cx="347472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965960" cy="109728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CREDIBILITY
Evidence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0328" y="2240280"/>
            <a:ext cx="347472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60" y="1828800"/>
            <a:ext cx="1965960" cy="109728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NASH
Reference price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8" y="2240280"/>
            <a:ext cx="347472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360" y="1828800"/>
            <a:ext cx="1965960" cy="109728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TIMING
Dependency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82328" y="2240280"/>
            <a:ext cx="347472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38360" y="1828800"/>
            <a:ext cx="1965960" cy="109728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SHAPLEY
Lever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840480"/>
            <a:ext cx="6583680" cy="105156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F4058"/>
                </a:solidFill>
                <a:latin typeface="Aptos"/>
              </a:rPr>
              <a:t>FINAL NEGOTIATION DECISION
Combine quantitative boundaries + game-theory signals +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035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707A"/>
                </a:solidFill>
                <a:latin typeface="Aptos"/>
              </a:rPr>
              <a:t>Purpose: support the buyer before negotiation — not autonomously negotiate with the supplier.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10</a:t>
            </a:r>
          </a:p>
        </p:txBody>
      </p:sp>
      <p:pic>
        <p:nvPicPr>
          <p:cNvPr id="19" name="Image 0" descr="/home/claude/pptx_work/Final_Logo.png">
            <a:extLst>
              <a:ext uri="{FF2B5EF4-FFF2-40B4-BE49-F238E27FC236}">
                <a16:creationId xmlns:a16="http://schemas.microsoft.com/office/drawing/2014/main" id="{6AF5AA6E-9890-3CB4-D6F8-F2FB186F8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4058"/>
                </a:solidFill>
                <a:latin typeface="Aptos"/>
              </a:rPr>
              <a:t>10. Sample Negotiation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37744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CASE NEG001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234440"/>
            <a:ext cx="237744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RFQ001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234440"/>
            <a:ext cx="237744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M001 – Brake Valve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34440"/>
            <a:ext cx="2377440" cy="6858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10,000 units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240280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Current supplier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S001 – Supplier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Current offer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₹120 / unit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Required delivery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30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Best alternative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S003 – Supplier C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 C quote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₹111 / unit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Buyer reservation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₹113 / unit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Nash reference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₹112 / unit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0" y="5715000"/>
            <a:ext cx="6675120" cy="530352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RESULT → Supplier C is the strongest negotiation alternative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11</a:t>
            </a:r>
          </a:p>
        </p:txBody>
      </p:sp>
      <p:pic>
        <p:nvPicPr>
          <p:cNvPr id="14" name="Image 0" descr="/home/claude/pptx_work/Final_Logo.png">
            <a:extLst>
              <a:ext uri="{FF2B5EF4-FFF2-40B4-BE49-F238E27FC236}">
                <a16:creationId xmlns:a16="http://schemas.microsoft.com/office/drawing/2014/main" id="{AD7DFEE5-0857-BBE2-6EB1-F44500EB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464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F4058"/>
                </a:solidFill>
                <a:latin typeface="Aptos"/>
              </a:rPr>
              <a:t>11. Negotiation Strategy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91840" cy="13716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2F4058"/>
                </a:solidFill>
                <a:latin typeface="Aptos"/>
              </a:rPr>
              <a:t>OPENING
₹109.76 /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291840" cy="13716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2F4058"/>
                </a:solidFill>
                <a:latin typeface="Aptos"/>
              </a:rPr>
              <a:t>TARGET
₹112 /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325880"/>
            <a:ext cx="3291840" cy="137160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2F4058"/>
                </a:solidFill>
                <a:latin typeface="Aptos"/>
              </a:rPr>
              <a:t>WALK-AWAY
₹113 / unit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22402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Start below target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3657600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77639" y="3383280"/>
            <a:ext cx="22402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Move toward ₹112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55080" y="3657600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0" y="3383280"/>
            <a:ext cx="22402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Protect ₹113 limit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26880" y="3657600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21240" y="3383280"/>
            <a:ext cx="13258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DECIDE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892040"/>
            <a:ext cx="85039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Negotiation actions: verify claims • use S003 as the alternative • protect delivery terms • avoid crossing the walk-away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12</a:t>
            </a:r>
          </a:p>
        </p:txBody>
      </p:sp>
      <p:pic>
        <p:nvPicPr>
          <p:cNvPr id="19" name="Image 0" descr="/home/claude/pptx_work/Final_Logo.png">
            <a:extLst>
              <a:ext uri="{FF2B5EF4-FFF2-40B4-BE49-F238E27FC236}">
                <a16:creationId xmlns:a16="http://schemas.microsoft.com/office/drawing/2014/main" id="{0DFFF676-1503-2A78-5BE1-A5A00043C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F4058"/>
                </a:solidFill>
                <a:latin typeface="Aptos"/>
              </a:rPr>
              <a:t>12. Technology &amp; Project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6032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F4058"/>
                </a:solidFill>
                <a:latin typeface="Aptos"/>
              </a:rPr>
              <a:t>DATA
 FILES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37560" y="1572768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1234440"/>
            <a:ext cx="256032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PYTHON
PANDAS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537960" y="1572768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40880" y="1234440"/>
            <a:ext cx="256032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4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4058"/>
                </a:solidFill>
                <a:latin typeface="Aptos"/>
              </a:rPr>
              <a:t>ANALYTICAL
MODULES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738360" y="1572768"/>
            <a:ext cx="457200" cy="256032"/>
          </a:xfrm>
          <a:prstGeom prst="rightArrow">
            <a:avLst/>
          </a:prstGeom>
          <a:solidFill>
            <a:srgbClr val="36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95560" y="1234440"/>
            <a:ext cx="1325880" cy="960120"/>
          </a:xfrm>
          <a:prstGeom prst="roundRect">
            <a:avLst/>
          </a:prstGeom>
          <a:solidFill>
            <a:srgbClr val="DEEFF5"/>
          </a:solidFill>
          <a:ln w="16510">
            <a:solidFill>
              <a:srgbClr val="2F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4058"/>
                </a:solidFill>
                <a:latin typeface="Aptos"/>
              </a:rPr>
              <a:t>MAIN.PY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606040"/>
          <a:ext cx="107442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36576">
                    <a:solidFill>
                      <a:srgbClr val="2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supplier_analysis.py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 scoring and feasibility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outside_option.py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Alternative supplier cost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batna.py / reservation_value.py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BATNA and buyer boundary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zopa.py / nash_bargaining.py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Negotiation zone and reference price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signalling.py / credibility.py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Supplier claims and evidence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timing_model.py / shapley.py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Timing risk and lever attribution</a:t>
                      </a:r>
                    </a:p>
                  </a:txBody>
                  <a:tcPr marL="64008" marR="64008" marT="36576" marB="36576">
                    <a:solidFill>
                      <a:srgbClr val="ED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negotiation_decision.py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t>Final rule-based recommendation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13</a:t>
            </a:r>
          </a:p>
        </p:txBody>
      </p:sp>
      <p:pic>
        <p:nvPicPr>
          <p:cNvPr id="16" name="Image 0" descr="/home/claude/pptx_work/Final_Logo.png">
            <a:extLst>
              <a:ext uri="{FF2B5EF4-FFF2-40B4-BE49-F238E27FC236}">
                <a16:creationId xmlns:a16="http://schemas.microsoft.com/office/drawing/2014/main" id="{7C2A5F18-7184-6ECC-C499-596560C3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6876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F4058"/>
                </a:solidFill>
                <a:latin typeface="Aptos"/>
              </a:rPr>
              <a:t>13. Assumptions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All values are synthetic/sample values created for the capstone demonstration.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BATNA and reservation value use simplified prototype assumptions.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ZOPA uses a simplified supplier-side boundary.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Historical average price is used as a proxy for supplier reservation value in the Nash model.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Signal and information-asymmetry scores are prototype indicators, not calibrated probabilities.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Timing analysis identifies dependency/risk; it does not prove supplier hold-up behaviour.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343E"/>
                </a:solidFill>
                <a:latin typeface="Aptos"/>
              </a:rPr>
              <a:t>• Current system is a decision-support prototype, not an autonomous negotiation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5715000"/>
            <a:ext cx="832104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4058"/>
                </a:solidFill>
                <a:latin typeface="Aptos"/>
              </a:rPr>
              <a:t>Production use would require real data, calibration, validation and stronger governance.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19088"/>
            <a:ext cx="10972800" cy="16459"/>
          </a:xfrm>
          <a:prstGeom prst="rect">
            <a:avLst/>
          </a:prstGeom>
          <a:solidFill>
            <a:srgbClr val="B3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707A"/>
                </a:solidFill>
                <a:latin typeface="Aptos"/>
              </a:rPr>
              <a:t>CILICONCHIP  |  Procurement Negotiation AI  |  14</a:t>
            </a:r>
          </a:p>
        </p:txBody>
      </p:sp>
      <p:pic>
        <p:nvPicPr>
          <p:cNvPr id="10" name="Image 0" descr="/home/claude/pptx_work/Final_Logo.png">
            <a:extLst>
              <a:ext uri="{FF2B5EF4-FFF2-40B4-BE49-F238E27FC236}">
                <a16:creationId xmlns:a16="http://schemas.microsoft.com/office/drawing/2014/main" id="{FF484B42-A8AE-02B5-20CC-A0110E0F5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79E397-38A8-0B83-57E8-F4262E687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650118"/>
              </p:ext>
            </p:extLst>
          </p:nvPr>
        </p:nvGraphicFramePr>
        <p:xfrm>
          <a:off x="0" y="0"/>
          <a:ext cx="12192000" cy="71036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64429">
                  <a:extLst>
                    <a:ext uri="{9D8B030D-6E8A-4147-A177-3AD203B41FA5}">
                      <a16:colId xmlns:a16="http://schemas.microsoft.com/office/drawing/2014/main" val="1835507027"/>
                    </a:ext>
                  </a:extLst>
                </a:gridCol>
                <a:gridCol w="8327571">
                  <a:extLst>
                    <a:ext uri="{9D8B030D-6E8A-4147-A177-3AD203B41FA5}">
                      <a16:colId xmlns:a16="http://schemas.microsoft.com/office/drawing/2014/main" val="1677931946"/>
                    </a:ext>
                  </a:extLst>
                </a:gridCol>
              </a:tblGrid>
              <a:tr h="382485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Output File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What it tells 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927205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supplier_analysis.csv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Which suppliers are suitable for this requirement?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439843"/>
                  </a:ext>
                </a:extLst>
              </a:tr>
              <a:tr h="518752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outside_options.csv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If our current negotiation fails, what alternatives do we have and what would they cost?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294935"/>
                  </a:ext>
                </a:extLst>
              </a:tr>
              <a:tr h="651974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batna_result.csv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If I cannot reach an agreement with my current supplier, what is my best backup option?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259385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reservation_value.csv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What is my maximum acceptable price before I should walk away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30719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zopa_analysis.csv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Is there a possible negotiation zone where a deal can happen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84266"/>
                  </a:ext>
                </a:extLst>
              </a:tr>
              <a:tr h="410356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signalling_analysis.csv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What is the supplier claiming, and how strong is the evidence behind that claim?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328306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credibility_analysis.csv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How much should we trust the supplier's claim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051931"/>
                  </a:ext>
                </a:extLst>
              </a:tr>
              <a:tr h="669351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verification_analysis.csv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Can we actually use this supplier claim in our negotiation analysis, or should we verify it first?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592259"/>
                  </a:ext>
                </a:extLst>
              </a:tr>
              <a:tr h="372556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information_asymmetry.csv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Where do we have an information disadvantage?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932173"/>
                  </a:ext>
                </a:extLst>
              </a:tr>
              <a:tr h="372556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negotiation_brief_summary.csv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Give me the important things I need to know before the negotiation.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52281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timing_analysis.csv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Could timing or delivery requirements create negotiation risk?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624328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negotiation_brief_supplier_strategy.csv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What should I specifically do when negotiating with this supplier?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14081"/>
                  </a:ext>
                </a:extLst>
              </a:tr>
              <a:tr h="382485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shapley_analysis.csv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How should the buyer actually enter and conduct the negotiation?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939434"/>
                  </a:ext>
                </a:extLst>
              </a:tr>
              <a:tr h="669351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</a:rPr>
                        <a:t>nash_bargaining.csv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ptos" panose="020B0004020202020204" pitchFamily="34" charset="0"/>
                        </a:rPr>
                        <a:t>If bargaining power is treated equally under our simplified model, what price would be a reasonable reference point?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06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27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99ECB2-E21F-D4F2-2688-850F10C3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15" y="1186542"/>
            <a:ext cx="8806542" cy="482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47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14.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2F4058"/>
                </a:solidFill>
                <a:latin typeface="Aptos"/>
              </a:rPr>
              <a:t>1
DATA →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69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4058"/>
                </a:solidFill>
                <a:latin typeface="Aptos"/>
              </a:rPr>
              <a:t>2
ANALYSIS →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1554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58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4058"/>
                </a:solidFill>
                <a:latin typeface="Aptos"/>
              </a:rPr>
              <a:t>3
BOUNDARIES →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69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Sample recommendation: negotiate with Supplier C around ₹112/unit, with ₹113/unit as the prototype walk-away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0749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6EB"/>
                </a:solidFill>
                <a:latin typeface="Aptos"/>
              </a:rPr>
              <a:t>The project demonstrates how procurement data and game theory can support structured negotiation preparation.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pic>
        <p:nvPicPr>
          <p:cNvPr id="12" name="Image 0" descr="/home/claude/pptx_work/Final_Logo.png">
            <a:extLst>
              <a:ext uri="{FF2B5EF4-FFF2-40B4-BE49-F238E27FC236}">
                <a16:creationId xmlns:a16="http://schemas.microsoft.com/office/drawing/2014/main" id="{FF3D5B9C-D220-ED4B-E721-0517950F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03" y="0"/>
            <a:ext cx="1728192" cy="86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1382</Words>
  <Application>Microsoft Office PowerPoint</Application>
  <PresentationFormat>Widescreen</PresentationFormat>
  <Paragraphs>284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  B V</cp:lastModifiedBy>
  <cp:revision>6</cp:revision>
  <dcterms:created xsi:type="dcterms:W3CDTF">2013-01-27T09:14:16Z</dcterms:created>
  <dcterms:modified xsi:type="dcterms:W3CDTF">2026-10-07T07:40:12Z</dcterms:modified>
  <cp:category/>
</cp:coreProperties>
</file>